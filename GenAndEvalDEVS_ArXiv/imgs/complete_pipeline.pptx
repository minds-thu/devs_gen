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FFFFFF"/>
    <a:srgbClr val="BFBFBF"/>
    <a:srgbClr val="EEE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36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29C2-4720-21CD-3BD5-DB4F01E1F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C2C08-79A3-ABA1-9107-A74BD2956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5CBE-4F39-9209-62CE-CB1C1953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153DE-42B8-7664-9331-34783DB1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C33C0-F347-6677-E143-9902AEB3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86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08B3-C150-8ED4-1765-EC0258FD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0648-A0D4-32D0-BE84-98446DE8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ACADC-FFBC-9408-0E66-E734E6F7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D0BCD-9F1C-7512-CF49-464AAF10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096AB-1796-BDF6-E59B-8A3A8BCD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73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24AB-954C-952B-6458-3362903B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B52DA-2191-383F-ED5F-67356AE02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40979-9FC4-87D7-5746-1C9C5795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9BE14-E743-3CFB-D20F-9F7C5FE3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3D5BD-1F82-173B-3400-2F6C7DF0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CFFE-946C-5AAE-E8D3-2644391A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6CC9D-D82D-ABDB-5771-E677E86DF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C4C0F-5E62-75D8-22B8-34F79B123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A0C66-B7F1-406B-EE70-FEA4111D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37F98-1E1A-7E32-EA19-3FC608EE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CE52-14C2-7DE4-C864-0EF2B3F6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32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7CF6F-5949-5B2B-D2FA-B284FF3D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CB623-27EA-A947-B349-56BA146A3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A4A3B-B9D6-C168-A9CA-0E610D9C9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E87FB-F2F3-2C88-336E-C680E3ACE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C882B-89D8-A496-83CF-61ABE5FA8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739731-FF65-A60B-E12C-99AEC379D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9DF21-A4BA-1EB5-0B34-C3E542E8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F3976-7612-5858-3EFB-056ECAE3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41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8B38-ECC2-8A77-BEE1-C49BFF4C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70E0-797C-D2C2-5130-550AC646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B8434-5E77-AF83-46BF-8CE86DF2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62D0D-0FB3-65F7-C325-05A8C2FA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8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551E9-A4F2-4852-2BB9-2640F684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9FF3A-B05C-FD6C-5252-51F2A087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6DABF-C8B4-0199-C8DE-36DCBE2D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070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B445-6570-AE69-5557-2179EFF7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E284D-8710-A852-A43D-2D9319517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49DE4-C7F6-AFFB-A877-325FFD55D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72042-B4C8-9858-9EF3-35800FF6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AD4DD-62CF-84E6-1F91-68B1C50E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1DCB8-F634-8445-578A-9EE5C1C7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67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49E3-8503-8212-AB5C-301AB656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36CE0-0335-6C22-D441-ACD507C2A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CAE97-6D28-FC92-207F-E355EFAB6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CE7F6-EB8B-B9EA-A784-94D5405D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E661-A57A-6920-6AEF-01614504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DB62B-F5B7-7061-9E73-2FAD6C2D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7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B61E-6AD8-359B-B219-B51C8E8E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46B01-826D-FDFC-44E9-7C5A6A619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22FC2-06D6-4EB6-61CB-14751033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E8E11-FEAF-689D-6F91-DFEC3C84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0A40A-A3CD-15DA-EE2C-BA9EE826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66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3190F-941C-9430-4D08-89E134CFA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356C7-4737-E4AF-39D3-829EA9554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7AC92-B04D-0DAC-7341-A839A63C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32B97-BC7A-E433-EC2F-F9079A13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3F4E-1D0A-8086-AB50-07802B03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72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3D67C-851B-8B74-B2DD-594BC333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F6316-661F-2B91-CFC3-FE3367A58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E9081-B7E8-719D-881B-26EBE5F7A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7CEE7-4E36-4600-848E-C00859245D22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11A6-2074-84F6-FBCE-B51019EF8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6142-C067-5D6F-25E6-8B37897E8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A2207-EE91-412E-9AEB-DB8BDF3094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44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B527D-36B9-24EA-472C-F5F73B46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E06F5DC-9A26-4131-C072-404626E11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093" y="1019812"/>
            <a:ext cx="4352221" cy="47515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76A047-D15C-3777-2BE9-123F421003AD}"/>
              </a:ext>
            </a:extLst>
          </p:cNvPr>
          <p:cNvCxnSpPr>
            <a:cxnSpLocks/>
          </p:cNvCxnSpPr>
          <p:nvPr/>
        </p:nvCxnSpPr>
        <p:spPr>
          <a:xfrm>
            <a:off x="6417561" y="2912841"/>
            <a:ext cx="0" cy="6636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D07A24E-45AD-3F29-ABCA-A0B1EF335B38}"/>
              </a:ext>
            </a:extLst>
          </p:cNvPr>
          <p:cNvSpPr/>
          <p:nvPr/>
        </p:nvSpPr>
        <p:spPr>
          <a:xfrm>
            <a:off x="8034507" y="702712"/>
            <a:ext cx="4362807" cy="3077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2C5DD22A-05AF-AEF8-F02C-B4624B88D4E4}"/>
              </a:ext>
            </a:extLst>
          </p:cNvPr>
          <p:cNvSpPr/>
          <p:nvPr/>
        </p:nvSpPr>
        <p:spPr>
          <a:xfrm>
            <a:off x="725726" y="1018782"/>
            <a:ext cx="4064301" cy="1093023"/>
          </a:xfrm>
          <a:prstGeom prst="wedgeRectCallout">
            <a:avLst>
              <a:gd name="adj1" fmla="val -52242"/>
              <a:gd name="adj2" fmla="val -2880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need to decide how many robots and chargers to deploy for warehouse restocking next week. Create a model with the following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 can test what happens if I change dispatch or charging policies.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94AEE6-4E9B-8217-7AEA-C0E3C1E36A3D}"/>
              </a:ext>
            </a:extLst>
          </p:cNvPr>
          <p:cNvSpPr txBox="1"/>
          <p:nvPr/>
        </p:nvSpPr>
        <p:spPr>
          <a:xfrm>
            <a:off x="717235" y="2181914"/>
            <a:ext cx="4072791" cy="30777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generate_model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chemeClr val="tx1"/>
                </a:solidFill>
              </a:rPr>
              <a:t>specification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D4B6A181-3C34-F44B-4912-7BEE4E484A5A}"/>
              </a:ext>
            </a:extLst>
          </p:cNvPr>
          <p:cNvSpPr/>
          <p:nvPr/>
        </p:nvSpPr>
        <p:spPr>
          <a:xfrm>
            <a:off x="725727" y="2771231"/>
            <a:ext cx="4064301" cy="754845"/>
          </a:xfrm>
          <a:prstGeom prst="wedgeRectCallout">
            <a:avLst>
              <a:gd name="adj1" fmla="val -51829"/>
              <a:gd name="adj2" fmla="val -2843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run what‑if analyses over a grid of interventions: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count {10, 15, 20}, dispatching {FIFO, EDD}, chargers {2, 4}.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E179089-6FC0-39BD-4B7F-B358FF878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1" t="7404" r="65901" b="71185"/>
          <a:stretch>
            <a:fillRect/>
          </a:stretch>
        </p:blipFill>
        <p:spPr>
          <a:xfrm>
            <a:off x="59179" y="835781"/>
            <a:ext cx="609186" cy="50694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70764A9-48D2-E93D-BFE1-979B984E581D}"/>
              </a:ext>
            </a:extLst>
          </p:cNvPr>
          <p:cNvSpPr txBox="1"/>
          <p:nvPr/>
        </p:nvSpPr>
        <p:spPr>
          <a:xfrm>
            <a:off x="717235" y="3597899"/>
            <a:ext cx="4072791" cy="30777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execute_model</a:t>
            </a:r>
            <a:r>
              <a:rPr lang="en-US" altLang="zh-CN" dirty="0"/>
              <a:t>(</a:t>
            </a:r>
            <a:r>
              <a:rPr lang="en-US" altLang="zh-CN" b="1" dirty="0"/>
              <a:t>intervention</a:t>
            </a:r>
            <a:r>
              <a:rPr lang="en-US" altLang="zh-CN" dirty="0"/>
              <a:t>={10, EDD, 2})</a:t>
            </a:r>
            <a:endParaRPr lang="zh-CN" altLang="en-US" dirty="0"/>
          </a:p>
        </p:txBody>
      </p:sp>
      <p:sp>
        <p:nvSpPr>
          <p:cNvPr id="66" name="Speech Bubble: Rectangle 65">
            <a:extLst>
              <a:ext uri="{FF2B5EF4-FFF2-40B4-BE49-F238E27FC236}">
                <a16:creationId xmlns:a16="http://schemas.microsoft.com/office/drawing/2014/main" id="{33063679-591F-76E3-4153-A773D7034B61}"/>
              </a:ext>
            </a:extLst>
          </p:cNvPr>
          <p:cNvSpPr/>
          <p:nvPr/>
        </p:nvSpPr>
        <p:spPr>
          <a:xfrm>
            <a:off x="717234" y="5341510"/>
            <a:ext cx="4072791" cy="507578"/>
          </a:xfrm>
          <a:prstGeom prst="wedgeRectCallout">
            <a:avLst>
              <a:gd name="adj1" fmla="val -51482"/>
              <a:gd name="adj2" fmla="val -2639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simulated KPIs, the best policy is: 15 robots with EDD dispatching and 2 chargers.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B0490C8C-F44C-F269-89E0-565CDA902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1" t="7404" r="65901" b="71185"/>
          <a:stretch>
            <a:fillRect/>
          </a:stretch>
        </p:blipFill>
        <p:spPr>
          <a:xfrm>
            <a:off x="59179" y="2549634"/>
            <a:ext cx="609186" cy="50694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AE570FB-1823-E196-99F6-8721B01C5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1" t="7404" r="65901" b="71185"/>
          <a:stretch>
            <a:fillRect/>
          </a:stretch>
        </p:blipFill>
        <p:spPr>
          <a:xfrm>
            <a:off x="70794" y="5086015"/>
            <a:ext cx="609186" cy="506942"/>
          </a:xfrm>
          <a:prstGeom prst="rect">
            <a:avLst/>
          </a:prstGeom>
        </p:spPr>
      </p:pic>
      <p:sp>
        <p:nvSpPr>
          <p:cNvPr id="70" name="Speech Bubble: Rectangle 69">
            <a:extLst>
              <a:ext uri="{FF2B5EF4-FFF2-40B4-BE49-F238E27FC236}">
                <a16:creationId xmlns:a16="http://schemas.microsoft.com/office/drawing/2014/main" id="{FE740353-AEFE-EB27-E78D-32668983AE65}"/>
              </a:ext>
            </a:extLst>
          </p:cNvPr>
          <p:cNvSpPr/>
          <p:nvPr/>
        </p:nvSpPr>
        <p:spPr>
          <a:xfrm flipH="1">
            <a:off x="717234" y="3977499"/>
            <a:ext cx="4072791" cy="1291989"/>
          </a:xfrm>
          <a:prstGeom prst="wedgeRectCallout">
            <a:avLst>
              <a:gd name="adj1" fmla="val -49960"/>
              <a:gd name="adj2" fmla="val 18857"/>
            </a:avLst>
          </a:prstGeom>
          <a:solidFill>
            <a:srgbClr val="EEECE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Traces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(t=2.0,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OrderQueue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order_arrival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id=88)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(t=2.2, Dispatcher,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task_assignment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robot=R3)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(t=5.4, Inventory,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restock_event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=A12) …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Fill rate: 0.94…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80421F6-4E8D-A20F-447C-4B22E21CE8D1}"/>
              </a:ext>
            </a:extLst>
          </p:cNvPr>
          <p:cNvCxnSpPr>
            <a:cxnSpLocks/>
          </p:cNvCxnSpPr>
          <p:nvPr/>
        </p:nvCxnSpPr>
        <p:spPr>
          <a:xfrm>
            <a:off x="10634197" y="-2055578"/>
            <a:ext cx="4200562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C55B8D7-4D67-F4B9-C866-A5A943E1CD0E}"/>
              </a:ext>
            </a:extLst>
          </p:cNvPr>
          <p:cNvSpPr txBox="1"/>
          <p:nvPr/>
        </p:nvSpPr>
        <p:spPr>
          <a:xfrm>
            <a:off x="9199442" y="702712"/>
            <a:ext cx="2056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DEVS Model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Picture 2" descr="Python icon | Major programming language vector icon illustration Stock  Vector Image &amp; Art - Alamy">
            <a:extLst>
              <a:ext uri="{FF2B5EF4-FFF2-40B4-BE49-F238E27FC236}">
                <a16:creationId xmlns:a16="http://schemas.microsoft.com/office/drawing/2014/main" id="{A09C96D8-670F-1FF9-4A62-1B699DF70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443" y="-2637419"/>
            <a:ext cx="468969" cy="5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77E61C08-A0A9-9BF6-7936-65973C35AA55}"/>
              </a:ext>
            </a:extLst>
          </p:cNvPr>
          <p:cNvSpPr/>
          <p:nvPr/>
        </p:nvSpPr>
        <p:spPr>
          <a:xfrm>
            <a:off x="5084907" y="1012581"/>
            <a:ext cx="2677345" cy="19484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 a warehouse restocking system for the next 7 days. Orders arrive with (SKU, quantity, due‑time) and must be fulfilled by a fleet of mobile robots. The system has: (</a:t>
            </a:r>
            <a:r>
              <a:rPr lang="en-US" altLang="zh-CN" sz="1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 order queue with a configurable priority rule (FIFO or earliest‑due‑date), (ii) inventory that tracks …</a:t>
            </a:r>
            <a:endParaRPr lang="zh-CN" altLang="en-US"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91EE0-A627-2575-6BA9-405068097292}"/>
              </a:ext>
            </a:extLst>
          </p:cNvPr>
          <p:cNvSpPr/>
          <p:nvPr/>
        </p:nvSpPr>
        <p:spPr>
          <a:xfrm>
            <a:off x="5084907" y="711005"/>
            <a:ext cx="2677345" cy="3077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sz="1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E8F0878-53DD-6461-CD91-FFD402BC8A3F}"/>
              </a:ext>
            </a:extLst>
          </p:cNvPr>
          <p:cNvGrpSpPr/>
          <p:nvPr/>
        </p:nvGrpSpPr>
        <p:grpSpPr>
          <a:xfrm>
            <a:off x="7384686" y="479523"/>
            <a:ext cx="472074" cy="588938"/>
            <a:chOff x="744800" y="2087880"/>
            <a:chExt cx="500793" cy="618879"/>
          </a:xfrm>
        </p:grpSpPr>
        <p:sp>
          <p:nvSpPr>
            <p:cNvPr id="80" name="Rectangle 143">
              <a:extLst>
                <a:ext uri="{FF2B5EF4-FFF2-40B4-BE49-F238E27FC236}">
                  <a16:creationId xmlns:a16="http://schemas.microsoft.com/office/drawing/2014/main" id="{12EEC84D-6196-8E06-C0FE-D385DC310D8E}"/>
                </a:ext>
              </a:extLst>
            </p:cNvPr>
            <p:cNvSpPr/>
            <p:nvPr/>
          </p:nvSpPr>
          <p:spPr>
            <a:xfrm>
              <a:off x="744800" y="2157560"/>
              <a:ext cx="500793" cy="524389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楷体"/>
                <a:cs typeface="+mn-cs"/>
              </a:endParaRPr>
            </a:p>
          </p:txBody>
        </p:sp>
        <p:pic>
          <p:nvPicPr>
            <p:cNvPr id="81" name="Graphic 18">
              <a:extLst>
                <a:ext uri="{FF2B5EF4-FFF2-40B4-BE49-F238E27FC236}">
                  <a16:creationId xmlns:a16="http://schemas.microsoft.com/office/drawing/2014/main" id="{6B91E05E-C579-0614-8BA4-41686C567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7274" t="8854" r="16927" b="8931"/>
            <a:stretch/>
          </p:blipFill>
          <p:spPr>
            <a:xfrm>
              <a:off x="748990" y="2087880"/>
              <a:ext cx="495302" cy="618879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C2B8A71-53A2-A55B-FF5D-90BA9802C2DE}"/>
              </a:ext>
            </a:extLst>
          </p:cNvPr>
          <p:cNvSpPr txBox="1"/>
          <p:nvPr/>
        </p:nvSpPr>
        <p:spPr>
          <a:xfrm>
            <a:off x="5262433" y="695175"/>
            <a:ext cx="2212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Specification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05A81-8FB0-64B0-8DBD-DCBD1C587DD3}"/>
              </a:ext>
            </a:extLst>
          </p:cNvPr>
          <p:cNvSpPr/>
          <p:nvPr/>
        </p:nvSpPr>
        <p:spPr>
          <a:xfrm>
            <a:off x="725726" y="713191"/>
            <a:ext cx="4064300" cy="3077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49204-7C59-5FD8-94C2-F2F014E2E4F9}"/>
              </a:ext>
            </a:extLst>
          </p:cNvPr>
          <p:cNvSpPr txBox="1"/>
          <p:nvPr/>
        </p:nvSpPr>
        <p:spPr>
          <a:xfrm>
            <a:off x="777207" y="705698"/>
            <a:ext cx="3991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&amp; Execution of Discrete-Event Model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8B5255-2715-935F-2645-366CDA484ECA}"/>
              </a:ext>
            </a:extLst>
          </p:cNvPr>
          <p:cNvSpPr txBox="1"/>
          <p:nvPr/>
        </p:nvSpPr>
        <p:spPr>
          <a:xfrm>
            <a:off x="5114317" y="5405403"/>
            <a:ext cx="26773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Discrete-Event World Model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055D613A-B3FC-EDE3-56F6-9FAEE785B9F6}"/>
              </a:ext>
            </a:extLst>
          </p:cNvPr>
          <p:cNvSpPr/>
          <p:nvPr/>
        </p:nvSpPr>
        <p:spPr>
          <a:xfrm flipH="1">
            <a:off x="5018311" y="4746258"/>
            <a:ext cx="375611" cy="238757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FA2CF16F-291F-6443-43FB-14F354366D46}"/>
              </a:ext>
            </a:extLst>
          </p:cNvPr>
          <p:cNvSpPr/>
          <p:nvPr/>
        </p:nvSpPr>
        <p:spPr>
          <a:xfrm>
            <a:off x="4915584" y="1044851"/>
            <a:ext cx="139649" cy="1889534"/>
          </a:xfrm>
          <a:prstGeom prst="leftBrace">
            <a:avLst>
              <a:gd name="adj1" fmla="val 122329"/>
              <a:gd name="adj2" fmla="val 70491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795F216-67ED-B0DA-8BFB-9868FAFB91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324" y="3512810"/>
            <a:ext cx="1948473" cy="1948473"/>
          </a:xfrm>
          <a:prstGeom prst="rect">
            <a:avLst/>
          </a:prstGeom>
        </p:spPr>
      </p:pic>
      <p:sp>
        <p:nvSpPr>
          <p:cNvPr id="46" name="Left Brace 45">
            <a:extLst>
              <a:ext uri="{FF2B5EF4-FFF2-40B4-BE49-F238E27FC236}">
                <a16:creationId xmlns:a16="http://schemas.microsoft.com/office/drawing/2014/main" id="{5F617D1E-4217-3CA6-5017-28FEF1531F12}"/>
              </a:ext>
            </a:extLst>
          </p:cNvPr>
          <p:cNvSpPr/>
          <p:nvPr/>
        </p:nvSpPr>
        <p:spPr>
          <a:xfrm>
            <a:off x="7770422" y="1068461"/>
            <a:ext cx="236463" cy="4702912"/>
          </a:xfrm>
          <a:prstGeom prst="leftBrace">
            <a:avLst>
              <a:gd name="adj1" fmla="val 172371"/>
              <a:gd name="adj2" fmla="val 71172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AC71CA8-962A-1788-6361-15FDC2E5568C}"/>
              </a:ext>
            </a:extLst>
          </p:cNvPr>
          <p:cNvSpPr/>
          <p:nvPr/>
        </p:nvSpPr>
        <p:spPr>
          <a:xfrm>
            <a:off x="5027203" y="3632408"/>
            <a:ext cx="375611" cy="238757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F4AEE-848F-FF6F-C2F2-3D88ED780B83}"/>
              </a:ext>
            </a:extLst>
          </p:cNvPr>
          <p:cNvSpPr txBox="1"/>
          <p:nvPr/>
        </p:nvSpPr>
        <p:spPr>
          <a:xfrm>
            <a:off x="5084907" y="3048612"/>
            <a:ext cx="2673411" cy="3077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>
              <a:defRPr sz="14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zh-CN" b="1" dirty="0"/>
              <a:t>Model Generation Pipeline</a:t>
            </a:r>
            <a:endParaRPr lang="zh-CN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0112F-43BE-52F4-5CF5-01AD9C9A1CD1}"/>
              </a:ext>
            </a:extLst>
          </p:cNvPr>
          <p:cNvSpPr txBox="1"/>
          <p:nvPr/>
        </p:nvSpPr>
        <p:spPr>
          <a:xfrm>
            <a:off x="4915584" y="3785663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6F7ECB-3221-C25E-D335-D44A825F89F4}"/>
              </a:ext>
            </a:extLst>
          </p:cNvPr>
          <p:cNvSpPr txBox="1"/>
          <p:nvPr/>
        </p:nvSpPr>
        <p:spPr>
          <a:xfrm>
            <a:off x="4893445" y="4463584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Python icon | Major programming language vector icon illustration Stock  Vector Image &amp; Art - Alamy">
            <a:extLst>
              <a:ext uri="{FF2B5EF4-FFF2-40B4-BE49-F238E27FC236}">
                <a16:creationId xmlns:a16="http://schemas.microsoft.com/office/drawing/2014/main" id="{D3CC5972-ADB8-9ACB-569F-54DDD08E6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1922" y="479523"/>
            <a:ext cx="468969" cy="5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961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252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Chuanhao Li</dc:creator>
  <cp:lastModifiedBy>Chuanhao Li</cp:lastModifiedBy>
  <cp:revision>80</cp:revision>
  <dcterms:created xsi:type="dcterms:W3CDTF">2026-01-20T12:41:24Z</dcterms:created>
  <dcterms:modified xsi:type="dcterms:W3CDTF">2026-01-23T00:31:54Z</dcterms:modified>
</cp:coreProperties>
</file>